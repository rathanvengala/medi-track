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30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0302C"/>
                </a:solidFill>
                <a:latin typeface="Arial"/>
              </a:rPr>
              <a:t>39 documented scenarios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39A"/>
              </a:solidFill>
              <a:effectLst/>
            </c:spPr>
          </c:dPt>
          <c:dPt>
            <c:idx val="1"/>
            <c:bubble3D val="0"/>
            <c:spPr>
              <a:solidFill>
                <a:srgbClr val="F0B429"/>
              </a:solidFill>
              <a:effectLst/>
            </c:spPr>
          </c:dPt>
          <c:dPt>
            <c:idx val="2"/>
            <c:bubble3D val="0"/>
            <c:spPr>
              <a:solidFill>
                <a:srgbClr val="C94A3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Passed</c:v>
                </c:pt>
                <c:pt idx="1">
                  <c:v>Partial</c:v>
                </c:pt>
                <c:pt idx="2">
                  <c:v>Failed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20</c:v>
                </c:pt>
                <c:pt idx="1">
                  <c:v>1</c:v>
                </c:pt>
                <c:pt idx="2">
                  <c:v>18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0302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30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0302C"/>
                </a:solidFill>
                <a:latin typeface="Arial"/>
              </a:rPr>
              <a:t>18 failures, by root cause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Failures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39A"/>
              </a:solidFill>
              <a:effectLst/>
            </c:spPr>
          </c:dPt>
          <c:dPt>
            <c:idx val="1"/>
            <c:bubble3D val="0"/>
            <c:spPr>
              <a:solidFill>
                <a:srgbClr val="3E8E7E"/>
              </a:solidFill>
              <a:effectLst/>
            </c:spPr>
          </c:dPt>
          <c:dPt>
            <c:idx val="2"/>
            <c:bubble3D val="0"/>
            <c:spPr>
              <a:solidFill>
                <a:srgbClr val="F0B429"/>
              </a:solidFill>
              <a:effectLst/>
            </c:spPr>
          </c:dPt>
          <c:dPt>
            <c:idx val="3"/>
            <c:bubble3D val="0"/>
            <c:spPr>
              <a:solidFill>
                <a:srgbClr val="C94A3B"/>
              </a:solidFill>
              <a:effectLst/>
            </c:spPr>
          </c:dPt>
          <c:dPt>
            <c:idx val="4"/>
            <c:bubble3D val="0"/>
            <c:spPr>
              <a:solidFill>
                <a:srgbClr val="5C726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Input validation &amp; limits</c:v>
                </c:pt>
                <c:pt idx="1">
                  <c:v>Intent routing</c:v>
                </c:pt>
                <c:pt idx="2">
                  <c:v>Security</c:v>
                </c:pt>
                <c:pt idx="3">
                  <c:v>Resilience &amp; recovery</c:v>
                </c:pt>
                <c:pt idx="4">
                  <c:v>Data quality &amp; test gaps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</c:v>
                </c:pt>
                <c:pt idx="1">
                  <c:v>3</c:v>
                </c:pt>
                <c:pt idx="2">
                  <c:v>2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0302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yourself, the project name, and frame it as the Week 4 milestone: not just a feature demo, but a hardening and validation pass driven by an independent review. Keep this to 15-20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problem in one breath, then pivot: 'so the objective for MediTrack AI was five things' and read the five objective headings — don't read the sub-bullets verbatim, they're there for you, not to be recited.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along the boxes: customer speaks, Whisper transcribes it, intent and entities are extracted, the knowledge base resolves the medicine and stock, the order workflow advances, and a grounded reply is spoken back. Point out the dashed line down to escalation — anything clinical or uncertain never reaches the customer as an AI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capability cards. Pick two or three to elaborate on live rather than reading all six — the phonetic search and the safety escalation are the strongest talking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layers, each with a clear job. Call out storage.py and security.py specifically — both are new in Week 4 and are what the rest of the deck is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 goal, stated plainly for the MBA audience: protect pharmacist time and prevent lost calls and stock errors — not to replace pharmacist judgement or dispensing.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state at the end of Week 3 — genuinely strong numbers. Land the last line deliberately; it's the pivot into the independent review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credibility moment: 190 tests were already green, and an independent, adversarial review still found 18 real defects. Emphasize that this is exactly what good QA process looks like — not a failure of the project, a validation of taking review seriously.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donut categories briefly, then let two or three of the findings on the right land — the negative quantity and the open API tend to get the strongest reaction from a non-technical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fix categories map directly onto the eighteen findings from the previous slide. You don't need to read every row — name three or four and say 'the rest follow the same pattern: validate at the boundary, fail closed, never crash.'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slow down on if you show a live demo right after — each row is a scenario you can actually run against the app to prove the 'after' column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new Week 4 negative suite (42 tests) is what closes the loop from the review: every one of the 18 defects is now a named, permanent regression test, not just a one-time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for anyone asking 'is this actually safe to put in front of a phone line' — six concrete, testable guarantees, not a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review narrative here before moving to the roadmap. This is the slide most worth memorizing verbatim for the video — it's the thesis of the whole Week 4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three near-term items said out loud, then 'and a longer list beyond that, in the deck for reference.' Don't read all six 'beyond' bullets.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Invite questions and stop the recording here if this is for the video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4754880" cy="4754880"/>
          </a:xfrm>
          <a:prstGeom prst="ellipse">
            <a:avLst/>
          </a:prstGeom>
          <a:solidFill>
            <a:srgbClr val="072826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2926080" cy="2926080"/>
          </a:xfrm>
          <a:prstGeom prst="ellipse">
            <a:avLst/>
          </a:prstGeom>
          <a:ln w="19050">
            <a:solidFill>
              <a:srgbClr val="00B3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148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MEDITRACK AI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Voice Agent for Pharmacy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Enquiry &amp; Order Automation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 Entrepreneurship Practicum  ·  Week 4: Hardening, Security &amp; Final Validation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2011680" cy="914"/>
          </a:xfrm>
          <a:prstGeom prst="line">
            <a:avLst/>
          </a:prstGeom>
          <a:noFill/>
          <a:ln w="25400">
            <a:solidFill>
              <a:srgbClr val="00B3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Vengala Rathan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5961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MBA  ·  September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355580" y="4869180"/>
            <a:ext cx="1051560" cy="1051560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11" name="Shape 9"/>
          <p:cNvSpPr/>
          <p:nvPr/>
        </p:nvSpPr>
        <p:spPr>
          <a:xfrm>
            <a:off x="10639501" y="5124078"/>
            <a:ext cx="483718" cy="386974"/>
          </a:xfrm>
          <a:prstGeom prst="wedgeRoundRectCallout">
            <a:avLst>
              <a:gd name="adj" fmla="val 14178"/>
            </a:avLst>
          </a:prstGeom>
          <a:solidFill>
            <a:srgbClr val="0B3D3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and what MediTrack AI set out to 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MediTrack AI — Stage II, Week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3F3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4754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phone lines carry the same few questions on repeat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medicine in stock? What does it cost? Is my order ready?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pulls a pharmacist away from dispensing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and time are lost to routine, repeatable questions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during busy periods are simply missed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call is a customer who may not call back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084832"/>
            <a:ext cx="475488" cy="475488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11" name="Shape 9"/>
          <p:cNvSpPr/>
          <p:nvPr/>
        </p:nvSpPr>
        <p:spPr>
          <a:xfrm>
            <a:off x="6392022" y="2200090"/>
            <a:ext cx="218724" cy="174980"/>
          </a:xfrm>
          <a:prstGeom prst="wedgeRoundRectCallout">
            <a:avLst>
              <a:gd name="adj" fmla="val 31354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40296" y="205740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calls automatically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940296" y="2340864"/>
            <a:ext cx="4718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spoken requests despite noisy transcription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2926080"/>
            <a:ext cx="475488" cy="475488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13894" y="3054462"/>
            <a:ext cx="174980" cy="218724"/>
          </a:xfrm>
          <a:prstGeom prst="can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40296" y="2898648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every answer in real data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940296" y="3182112"/>
            <a:ext cx="4718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price and prescription status — never invented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3767328"/>
            <a:ext cx="475488" cy="475488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19" name="Shape 17"/>
          <p:cNvSpPr/>
          <p:nvPr/>
        </p:nvSpPr>
        <p:spPr>
          <a:xfrm>
            <a:off x="6392022" y="3895710"/>
            <a:ext cx="218724" cy="218724"/>
          </a:xfrm>
          <a:prstGeom prst="cub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40296" y="3739896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complete orders by phone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940296" y="4023360"/>
            <a:ext cx="4718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Medicine, quantity, customer details, fulfilment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4608576"/>
            <a:ext cx="475488" cy="475488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23" name="Shape 21"/>
          <p:cNvSpPr/>
          <p:nvPr/>
        </p:nvSpPr>
        <p:spPr>
          <a:xfrm>
            <a:off x="6392022" y="4736958"/>
            <a:ext cx="218724" cy="218724"/>
          </a:xfrm>
          <a:prstGeom prst="plus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40296" y="458114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patient safety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940296" y="4864608"/>
            <a:ext cx="4718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questions always reach a pharmacist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5449824"/>
            <a:ext cx="475488" cy="475488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27" name="Shape 25"/>
          <p:cNvSpPr/>
          <p:nvPr/>
        </p:nvSpPr>
        <p:spPr>
          <a:xfrm>
            <a:off x="6392022" y="5578206"/>
            <a:ext cx="218724" cy="218724"/>
          </a:xfrm>
          <a:prstGeom prst="donu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 rot="5400000">
            <a:off x="6466388" y="5549772"/>
            <a:ext cx="69992" cy="61243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940296" y="542239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Withstand real-world conditions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940296" y="5705856"/>
            <a:ext cx="4718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input, concurrent load, corrupted data, misuse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from a spoken question to a placed order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MediTrack AI — Stage II, Week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5168" y="1965960"/>
            <a:ext cx="1600200" cy="1417320"/>
          </a:xfrm>
          <a:prstGeom prst="roundRect">
            <a:avLst>
              <a:gd name="adj" fmla="val 5806"/>
            </a:avLst>
          </a:prstGeom>
          <a:solidFill>
            <a:srgbClr val="E3F3F0"/>
          </a:solidFill>
          <a:ln/>
        </p:spPr>
      </p:sp>
      <p:sp>
        <p:nvSpPr>
          <p:cNvPr id="7" name="Shape 5"/>
          <p:cNvSpPr/>
          <p:nvPr/>
        </p:nvSpPr>
        <p:spPr>
          <a:xfrm>
            <a:off x="1171804" y="2139696"/>
            <a:ext cx="566928" cy="566928"/>
          </a:xfrm>
          <a:prstGeom prst="ellipse">
            <a:avLst/>
          </a:prstGeom>
          <a:solidFill>
            <a:srgbClr val="0B3D3A"/>
          </a:solidFill>
          <a:ln/>
        </p:spPr>
      </p:sp>
      <p:sp>
        <p:nvSpPr>
          <p:cNvPr id="8" name="Shape 6"/>
          <p:cNvSpPr/>
          <p:nvPr/>
        </p:nvSpPr>
        <p:spPr>
          <a:xfrm>
            <a:off x="1324874" y="2277119"/>
            <a:ext cx="260787" cy="208630"/>
          </a:xfrm>
          <a:prstGeom prst="wedgeRoundRectCallout">
            <a:avLst>
              <a:gd name="adj" fmla="val 2629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0888" y="28072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73656" y="2574036"/>
            <a:ext cx="219456" cy="201168"/>
          </a:xfrm>
          <a:prstGeom prst="rightArrow">
            <a:avLst/>
          </a:prstGeom>
          <a:solidFill>
            <a:srgbClr val="00B39A"/>
          </a:solidFill>
          <a:ln/>
        </p:spPr>
      </p:sp>
      <p:sp>
        <p:nvSpPr>
          <p:cNvPr id="11" name="Shape 9"/>
          <p:cNvSpPr/>
          <p:nvPr/>
        </p:nvSpPr>
        <p:spPr>
          <a:xfrm>
            <a:off x="2511400" y="1965960"/>
            <a:ext cx="1600200" cy="1417320"/>
          </a:xfrm>
          <a:prstGeom prst="roundRect">
            <a:avLst>
              <a:gd name="adj" fmla="val 5806"/>
            </a:avLst>
          </a:prstGeom>
          <a:solidFill>
            <a:srgbClr val="CFEAE5"/>
          </a:solidFill>
          <a:ln/>
        </p:spPr>
      </p:sp>
      <p:sp>
        <p:nvSpPr>
          <p:cNvPr id="12" name="Shape 10"/>
          <p:cNvSpPr/>
          <p:nvPr/>
        </p:nvSpPr>
        <p:spPr>
          <a:xfrm>
            <a:off x="3028036" y="2139696"/>
            <a:ext cx="566928" cy="566928"/>
          </a:xfrm>
          <a:prstGeom prst="ellipse">
            <a:avLst/>
          </a:prstGeom>
          <a:solidFill>
            <a:srgbClr val="0B3D3A"/>
          </a:solidFill>
          <a:ln/>
        </p:spPr>
      </p:sp>
      <p:sp>
        <p:nvSpPr>
          <p:cNvPr id="13" name="Shape 11"/>
          <p:cNvSpPr/>
          <p:nvPr/>
        </p:nvSpPr>
        <p:spPr>
          <a:xfrm>
            <a:off x="3181106" y="2292767"/>
            <a:ext cx="260787" cy="260787"/>
          </a:xfrm>
          <a:prstGeom prst="star5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557120" y="28072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29888" y="2574036"/>
            <a:ext cx="219456" cy="201168"/>
          </a:xfrm>
          <a:prstGeom prst="rightArrow">
            <a:avLst/>
          </a:prstGeom>
          <a:solidFill>
            <a:srgbClr val="00B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4367632" y="1965960"/>
            <a:ext cx="1600200" cy="1417320"/>
          </a:xfrm>
          <a:prstGeom prst="roundRect">
            <a:avLst>
              <a:gd name="adj" fmla="val 5806"/>
            </a:avLst>
          </a:prstGeom>
          <a:solidFill>
            <a:srgbClr val="E3F3F0"/>
          </a:solidFill>
          <a:ln/>
        </p:spPr>
      </p:sp>
      <p:sp>
        <p:nvSpPr>
          <p:cNvPr id="17" name="Shape 15"/>
          <p:cNvSpPr/>
          <p:nvPr/>
        </p:nvSpPr>
        <p:spPr>
          <a:xfrm>
            <a:off x="4884268" y="2139696"/>
            <a:ext cx="566928" cy="566928"/>
          </a:xfrm>
          <a:prstGeom prst="ellipse">
            <a:avLst/>
          </a:prstGeom>
          <a:solidFill>
            <a:srgbClr val="0B3D3A"/>
          </a:solidFill>
          <a:ln/>
        </p:spPr>
      </p:sp>
      <p:sp>
        <p:nvSpPr>
          <p:cNvPr id="18" name="Shape 16"/>
          <p:cNvSpPr/>
          <p:nvPr/>
        </p:nvSpPr>
        <p:spPr>
          <a:xfrm>
            <a:off x="5037338" y="2292767"/>
            <a:ext cx="260787" cy="260787"/>
          </a:xfrm>
          <a:prstGeom prst="plus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3352" y="28072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86120" y="2574036"/>
            <a:ext cx="219456" cy="201168"/>
          </a:xfrm>
          <a:prstGeom prst="rightArrow">
            <a:avLst/>
          </a:prstGeom>
          <a:solidFill>
            <a:srgbClr val="00B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6223864" y="1965960"/>
            <a:ext cx="1600200" cy="1417320"/>
          </a:xfrm>
          <a:prstGeom prst="roundRect">
            <a:avLst>
              <a:gd name="adj" fmla="val 5806"/>
            </a:avLst>
          </a:prstGeom>
          <a:solidFill>
            <a:srgbClr val="CFEAE5"/>
          </a:solidFill>
          <a:ln/>
        </p:spPr>
      </p:sp>
      <p:sp>
        <p:nvSpPr>
          <p:cNvPr id="22" name="Shape 20"/>
          <p:cNvSpPr/>
          <p:nvPr/>
        </p:nvSpPr>
        <p:spPr>
          <a:xfrm>
            <a:off x="6740500" y="2139696"/>
            <a:ext cx="566928" cy="566928"/>
          </a:xfrm>
          <a:prstGeom prst="ellipse">
            <a:avLst/>
          </a:prstGeom>
          <a:solidFill>
            <a:srgbClr val="0B3D3A"/>
          </a:solidFill>
          <a:ln/>
        </p:spPr>
      </p:sp>
      <p:sp>
        <p:nvSpPr>
          <p:cNvPr id="23" name="Shape 21"/>
          <p:cNvSpPr/>
          <p:nvPr/>
        </p:nvSpPr>
        <p:spPr>
          <a:xfrm>
            <a:off x="6919649" y="2292767"/>
            <a:ext cx="208630" cy="260787"/>
          </a:xfrm>
          <a:prstGeom prst="can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69584" y="28072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842352" y="2574036"/>
            <a:ext cx="219456" cy="201168"/>
          </a:xfrm>
          <a:prstGeom prst="rightArrow">
            <a:avLst/>
          </a:prstGeom>
          <a:solidFill>
            <a:srgbClr val="00B39A"/>
          </a:solidFill>
          <a:ln/>
        </p:spPr>
      </p:sp>
      <p:sp>
        <p:nvSpPr>
          <p:cNvPr id="26" name="Shape 24"/>
          <p:cNvSpPr/>
          <p:nvPr/>
        </p:nvSpPr>
        <p:spPr>
          <a:xfrm>
            <a:off x="8080096" y="1965960"/>
            <a:ext cx="1600200" cy="1417320"/>
          </a:xfrm>
          <a:prstGeom prst="roundRect">
            <a:avLst>
              <a:gd name="adj" fmla="val 5806"/>
            </a:avLst>
          </a:prstGeom>
          <a:solidFill>
            <a:srgbClr val="E3F3F0"/>
          </a:solidFill>
          <a:ln/>
        </p:spPr>
      </p:sp>
      <p:sp>
        <p:nvSpPr>
          <p:cNvPr id="27" name="Shape 25"/>
          <p:cNvSpPr/>
          <p:nvPr/>
        </p:nvSpPr>
        <p:spPr>
          <a:xfrm>
            <a:off x="8596732" y="2139696"/>
            <a:ext cx="566928" cy="566928"/>
          </a:xfrm>
          <a:prstGeom prst="ellipse">
            <a:avLst/>
          </a:prstGeom>
          <a:solidFill>
            <a:srgbClr val="0B3D3A"/>
          </a:solidFill>
          <a:ln/>
        </p:spPr>
      </p:sp>
      <p:sp>
        <p:nvSpPr>
          <p:cNvPr id="28" name="Shape 26"/>
          <p:cNvSpPr/>
          <p:nvPr/>
        </p:nvSpPr>
        <p:spPr>
          <a:xfrm>
            <a:off x="8749802" y="2292767"/>
            <a:ext cx="260787" cy="260787"/>
          </a:xfrm>
          <a:prstGeom prst="cub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125816" y="28072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698584" y="2574036"/>
            <a:ext cx="219456" cy="201168"/>
          </a:xfrm>
          <a:prstGeom prst="rightArrow">
            <a:avLst/>
          </a:prstGeom>
          <a:solidFill>
            <a:srgbClr val="00B39A"/>
          </a:solidFill>
          <a:ln/>
        </p:spPr>
      </p:sp>
      <p:sp>
        <p:nvSpPr>
          <p:cNvPr id="31" name="Shape 29"/>
          <p:cNvSpPr/>
          <p:nvPr/>
        </p:nvSpPr>
        <p:spPr>
          <a:xfrm>
            <a:off x="9936328" y="1965960"/>
            <a:ext cx="1600200" cy="1417320"/>
          </a:xfrm>
          <a:prstGeom prst="roundRect">
            <a:avLst>
              <a:gd name="adj" fmla="val 5806"/>
            </a:avLst>
          </a:prstGeom>
          <a:solidFill>
            <a:srgbClr val="CFEAE5"/>
          </a:solidFill>
          <a:ln/>
        </p:spPr>
      </p:sp>
      <p:sp>
        <p:nvSpPr>
          <p:cNvPr id="32" name="Shape 30"/>
          <p:cNvSpPr/>
          <p:nvPr/>
        </p:nvSpPr>
        <p:spPr>
          <a:xfrm>
            <a:off x="10452964" y="2139696"/>
            <a:ext cx="566928" cy="566928"/>
          </a:xfrm>
          <a:prstGeom prst="ellipse">
            <a:avLst/>
          </a:prstGeom>
          <a:solidFill>
            <a:srgbClr val="0B3D3A"/>
          </a:solidFill>
          <a:ln/>
        </p:spPr>
      </p:sp>
      <p:sp>
        <p:nvSpPr>
          <p:cNvPr id="33" name="Shape 31"/>
          <p:cNvSpPr/>
          <p:nvPr/>
        </p:nvSpPr>
        <p:spPr>
          <a:xfrm>
            <a:off x="10606034" y="2277119"/>
            <a:ext cx="260787" cy="208630"/>
          </a:xfrm>
          <a:prstGeom prst="wedgeRoundRectCallout">
            <a:avLst>
              <a:gd name="adj" fmla="val 26297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982048" y="28072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24248" y="3383280"/>
            <a:ext cx="0" cy="594360"/>
          </a:xfrm>
          <a:prstGeom prst="line">
            <a:avLst/>
          </a:prstGeom>
          <a:noFill/>
          <a:ln w="15875">
            <a:solidFill>
              <a:srgbClr val="5C726F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3718408" y="397764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0B3D3A"/>
          </a:solidFill>
          <a:ln/>
        </p:spPr>
      </p:sp>
      <p:sp>
        <p:nvSpPr>
          <p:cNvPr id="37" name="Shape 35"/>
          <p:cNvSpPr/>
          <p:nvPr/>
        </p:nvSpPr>
        <p:spPr>
          <a:xfrm>
            <a:off x="3901288" y="4183380"/>
            <a:ext cx="457200" cy="457200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38" name="Shape 36"/>
          <p:cNvSpPr/>
          <p:nvPr/>
        </p:nvSpPr>
        <p:spPr>
          <a:xfrm>
            <a:off x="4024732" y="4306824"/>
            <a:ext cx="210312" cy="210312"/>
          </a:xfrm>
          <a:prstGeom prst="hexagon">
            <a:avLst/>
          </a:prstGeom>
          <a:solidFill>
            <a:srgbClr val="0B3D3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495648" y="41056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Pharmacist Escalation Queue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4495648" y="44348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Dosage questions, prescriptions, stock shortfalls, human requests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reply is grounded in a live knowledge-base lookup — the model states only facts the search actually returned.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capabilities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MediTrack AI — Stage II, Week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E3F3F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8" name="Shape 6"/>
          <p:cNvSpPr/>
          <p:nvPr/>
        </p:nvSpPr>
        <p:spPr>
          <a:xfrm>
            <a:off x="971093" y="2144670"/>
            <a:ext cx="252374" cy="201900"/>
          </a:xfrm>
          <a:prstGeom prst="wedgeRoundRectCallout">
            <a:avLst>
              <a:gd name="adj" fmla="val 27174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72768" y="1984248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the phone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572768" y="2267712"/>
            <a:ext cx="4233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voice webhooks, or a local microphone for demos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36792" y="169164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CFEAE5"/>
          </a:solidFill>
          <a:ln/>
        </p:spPr>
      </p:sp>
      <p:sp>
        <p:nvSpPr>
          <p:cNvPr id="12" name="Shape 10"/>
          <p:cNvSpPr/>
          <p:nvPr/>
        </p:nvSpPr>
        <p:spPr>
          <a:xfrm>
            <a:off x="6611112" y="2011680"/>
            <a:ext cx="548640" cy="548640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13" name="Shape 11"/>
          <p:cNvSpPr/>
          <p:nvPr/>
        </p:nvSpPr>
        <p:spPr>
          <a:xfrm>
            <a:off x="6759245" y="2159813"/>
            <a:ext cx="252374" cy="252374"/>
          </a:xfrm>
          <a:prstGeom prst="star5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60920" y="1984248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Resolves mangled drug names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2267712"/>
            <a:ext cx="4233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Phonetic search recovers amoxy sillin, paracetemol, ventalin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E3F3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3566160"/>
            <a:ext cx="548640" cy="548640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18" name="Shape 16"/>
          <p:cNvSpPr/>
          <p:nvPr/>
        </p:nvSpPr>
        <p:spPr>
          <a:xfrm>
            <a:off x="996330" y="3714293"/>
            <a:ext cx="201900" cy="252374"/>
          </a:xfrm>
          <a:prstGeom prst="can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572768" y="3538728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from real data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572768" y="3822192"/>
            <a:ext cx="4233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Availability, price, prescription status for 28 medicines — never invented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36792" y="324612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CFEAE5"/>
          </a:solidFill>
          <a:ln/>
        </p:spPr>
      </p:sp>
      <p:sp>
        <p:nvSpPr>
          <p:cNvPr id="22" name="Shape 20"/>
          <p:cNvSpPr/>
          <p:nvPr/>
        </p:nvSpPr>
        <p:spPr>
          <a:xfrm>
            <a:off x="6611112" y="3566160"/>
            <a:ext cx="548640" cy="548640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23" name="Shape 21"/>
          <p:cNvSpPr/>
          <p:nvPr/>
        </p:nvSpPr>
        <p:spPr>
          <a:xfrm>
            <a:off x="6759245" y="3714293"/>
            <a:ext cx="252374" cy="252374"/>
          </a:xfrm>
          <a:prstGeom prst="cub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60920" y="3538728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Takes complete orders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360920" y="3822192"/>
            <a:ext cx="4233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Medicine, quantity, name, phone, pickup or delivery, across turns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80060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E3F3F0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" y="5120640"/>
            <a:ext cx="548640" cy="548640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28" name="Shape 26"/>
          <p:cNvSpPr/>
          <p:nvPr/>
        </p:nvSpPr>
        <p:spPr>
          <a:xfrm>
            <a:off x="971093" y="5268773"/>
            <a:ext cx="252374" cy="252374"/>
          </a:xfrm>
          <a:prstGeom prst="plus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572768" y="5093208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Protects patient safety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1572768" y="5376672"/>
            <a:ext cx="4233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questions always escalate — never answered by the AI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36792" y="480060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CFEAE5"/>
          </a:solidFill>
          <a:ln/>
        </p:spPr>
      </p:sp>
      <p:sp>
        <p:nvSpPr>
          <p:cNvPr id="32" name="Shape 30"/>
          <p:cNvSpPr/>
          <p:nvPr/>
        </p:nvSpPr>
        <p:spPr>
          <a:xfrm>
            <a:off x="6611112" y="5120640"/>
            <a:ext cx="548640" cy="548640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33" name="Shape 31"/>
          <p:cNvSpPr/>
          <p:nvPr/>
        </p:nvSpPr>
        <p:spPr>
          <a:xfrm>
            <a:off x="6759245" y="5268773"/>
            <a:ext cx="252374" cy="252374"/>
          </a:xfrm>
          <a:prstGeom prst="donu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 rot="5400000">
            <a:off x="6845052" y="5235964"/>
            <a:ext cx="80760" cy="70665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360920" y="5093208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Degrades safely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7360920" y="5376672"/>
            <a:ext cx="4233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key, a failed call, or bad input still gets a correct answer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at a glance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MediTrack AI — Stage II, Week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3F3F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10512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0B3D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81051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691640"/>
            <a:ext cx="8808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— webhooks + REST      |      security.py — API key + Twilio signature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96312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CFEAE5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615184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0B3D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61518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496312"/>
            <a:ext cx="8808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stt.py — transcription + noise filter      |      query_handler.py — intent + entities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00984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3F3F0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419856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0B3D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41985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3300984"/>
            <a:ext cx="8808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knowledge_base.py — fuzzy / phonetic search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CFEAE5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4224528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0B3D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422452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651760" y="4105656"/>
            <a:ext cx="8808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order_flow.py      |      orders.py      |      escalation.py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910328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3F3F0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5029200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0B3D3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50292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651760" y="4910328"/>
            <a:ext cx="8808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llm.py — grounded reply      |      conversation.py — session + TTL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71500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CFEAE5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5833872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0B3D3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583387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2651760" y="5715000"/>
            <a:ext cx="8808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storage.py — lock, atomic write, recovery      |      config.py — settings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MediTrack AI — Stage II, Week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3F3F0"/>
          </a:solidFill>
          <a:ln/>
        </p:spPr>
      </p:sp>
      <p:sp>
        <p:nvSpPr>
          <p:cNvPr id="7" name="Shape 5"/>
          <p:cNvSpPr/>
          <p:nvPr/>
        </p:nvSpPr>
        <p:spPr>
          <a:xfrm>
            <a:off x="708660" y="1851660"/>
            <a:ext cx="594360" cy="594360"/>
          </a:xfrm>
          <a:prstGeom prst="ellipse">
            <a:avLst/>
          </a:prstGeom>
          <a:solidFill>
            <a:srgbClr val="0B3D3A"/>
          </a:solidFill>
          <a:ln/>
        </p:spPr>
      </p:sp>
      <p:sp>
        <p:nvSpPr>
          <p:cNvPr id="8" name="Shape 6"/>
          <p:cNvSpPr/>
          <p:nvPr/>
        </p:nvSpPr>
        <p:spPr>
          <a:xfrm>
            <a:off x="869137" y="2012137"/>
            <a:ext cx="273406" cy="273406"/>
          </a:xfrm>
          <a:prstGeom prst="donu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962095" y="1976594"/>
            <a:ext cx="87490" cy="76554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time returned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89864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stock, price and status calls answered without a human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79976" y="16916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3F3F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39996" y="1851660"/>
            <a:ext cx="594360" cy="594360"/>
          </a:xfrm>
          <a:prstGeom prst="ellipse">
            <a:avLst/>
          </a:prstGeom>
          <a:solidFill>
            <a:srgbClr val="0B3D3A"/>
          </a:solidFill>
          <a:ln/>
        </p:spPr>
      </p:sp>
      <p:sp>
        <p:nvSpPr>
          <p:cNvPr id="14" name="Shape 12"/>
          <p:cNvSpPr/>
          <p:nvPr/>
        </p:nvSpPr>
        <p:spPr>
          <a:xfrm>
            <a:off x="4700473" y="1995733"/>
            <a:ext cx="273406" cy="218724"/>
          </a:xfrm>
          <a:prstGeom prst="wedgeRoundRectCallout">
            <a:avLst>
              <a:gd name="adj" fmla="val 25084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08576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missed calls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08576" y="289864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answers every call in parallel, including after hours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11312" y="16916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3F3F0"/>
          </a:solidFill>
          <a:ln/>
        </p:spPr>
      </p:sp>
      <p:sp>
        <p:nvSpPr>
          <p:cNvPr id="18" name="Shape 16"/>
          <p:cNvSpPr/>
          <p:nvPr/>
        </p:nvSpPr>
        <p:spPr>
          <a:xfrm>
            <a:off x="8371332" y="1851660"/>
            <a:ext cx="594360" cy="594360"/>
          </a:xfrm>
          <a:prstGeom prst="ellipse">
            <a:avLst/>
          </a:prstGeom>
          <a:solidFill>
            <a:srgbClr val="0B3D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531809" y="2012137"/>
            <a:ext cx="273406" cy="273406"/>
          </a:xfrm>
          <a:prstGeom prst="cub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39912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captured, not lost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439912" y="289864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enquiry becomes a structured record with customer details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3F3F0"/>
          </a:solidFill>
          <a:ln/>
        </p:spPr>
      </p:sp>
      <p:sp>
        <p:nvSpPr>
          <p:cNvPr id="23" name="Shape 21"/>
          <p:cNvSpPr/>
          <p:nvPr/>
        </p:nvSpPr>
        <p:spPr>
          <a:xfrm>
            <a:off x="708660" y="4000500"/>
            <a:ext cx="594360" cy="594360"/>
          </a:xfrm>
          <a:prstGeom prst="ellipse">
            <a:avLst/>
          </a:prstGeom>
          <a:solidFill>
            <a:srgbClr val="0B3D3A"/>
          </a:solidFill>
          <a:ln/>
        </p:spPr>
      </p:sp>
      <p:sp>
        <p:nvSpPr>
          <p:cNvPr id="24" name="Shape 22"/>
          <p:cNvSpPr/>
          <p:nvPr/>
        </p:nvSpPr>
        <p:spPr>
          <a:xfrm>
            <a:off x="896478" y="4160977"/>
            <a:ext cx="218724" cy="273406"/>
          </a:xfrm>
          <a:prstGeom prst="can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709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stock errors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04748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prevent promising the same pack to two callers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79976" y="38404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3F3F0"/>
          </a:solidFill>
          <a:ln/>
        </p:spPr>
      </p:sp>
      <p:sp>
        <p:nvSpPr>
          <p:cNvPr id="28" name="Shape 26"/>
          <p:cNvSpPr/>
          <p:nvPr/>
        </p:nvSpPr>
        <p:spPr>
          <a:xfrm>
            <a:off x="4539996" y="4000500"/>
            <a:ext cx="594360" cy="594360"/>
          </a:xfrm>
          <a:prstGeom prst="ellipse">
            <a:avLst/>
          </a:prstGeom>
          <a:solidFill>
            <a:srgbClr val="0B3D3A"/>
          </a:solidFill>
          <a:ln/>
        </p:spPr>
      </p:sp>
      <p:sp>
        <p:nvSpPr>
          <p:cNvPr id="29" name="Shape 27"/>
          <p:cNvSpPr/>
          <p:nvPr/>
        </p:nvSpPr>
        <p:spPr>
          <a:xfrm>
            <a:off x="4700473" y="4160977"/>
            <a:ext cx="273406" cy="273406"/>
          </a:xfrm>
          <a:prstGeom prst="plus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608576" y="4709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preserved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608576" y="504748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questions are never answered by the AI — always escalated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11312" y="38404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3F3F0"/>
          </a:solidFill>
          <a:ln/>
        </p:spPr>
      </p:sp>
      <p:sp>
        <p:nvSpPr>
          <p:cNvPr id="33" name="Shape 31"/>
          <p:cNvSpPr/>
          <p:nvPr/>
        </p:nvSpPr>
        <p:spPr>
          <a:xfrm>
            <a:off x="8371332" y="4000500"/>
            <a:ext cx="594360" cy="594360"/>
          </a:xfrm>
          <a:prstGeom prst="ellipse">
            <a:avLst/>
          </a:prstGeom>
          <a:solidFill>
            <a:srgbClr val="0B3D3A"/>
          </a:solidFill>
          <a:ln/>
        </p:spPr>
      </p:sp>
      <p:sp>
        <p:nvSpPr>
          <p:cNvPr id="34" name="Shape 32"/>
          <p:cNvSpPr/>
          <p:nvPr/>
        </p:nvSpPr>
        <p:spPr>
          <a:xfrm>
            <a:off x="8531809" y="4160977"/>
            <a:ext cx="273406" cy="273406"/>
          </a:xfrm>
          <a:prstGeom prst="star5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439912" y="47091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 trail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439912" y="504748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and escalation is tied to the call it came from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MediTrack AI — Stage II, Week 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validation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0868" y="23774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72826"/>
          </a:solidFill>
          <a:ln w="12700">
            <a:solidFill>
              <a:srgbClr val="00B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2308" y="26060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 / 190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05460" y="338328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75508" y="23774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72826"/>
          </a:solidFill>
          <a:ln w="12700">
            <a:solidFill>
              <a:srgbClr val="00B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66948" y="26060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540100" y="338328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35 mis-transcribed drug names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0148" y="23774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72826"/>
          </a:solidFill>
          <a:ln w="12700">
            <a:solidFill>
              <a:srgbClr val="00B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1588" y="26060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374740" y="338328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across 20 non-medicine phrases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44788" y="23774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072826"/>
          </a:solidFill>
          <a:ln w="12700">
            <a:solidFill>
              <a:srgbClr val="00B3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36228" y="26060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209380" y="338328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Medicines, real formulary grounding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617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F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Week 3, every automated suite was green — but a green suite only proves the paths it exercises.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 THE TEST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independent review, run by hand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MediTrack AI — Stage II, Week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review examined the Week 3 build across 39 documented scenarios — reconfirming the existing 190-case automated suite, then probing boundary cases, malformed input, concurrent access and security paths it never attempted.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223760" y="1371600"/>
          <a:ext cx="44805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01752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E3F3F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3127248"/>
            <a:ext cx="182880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754526"/>
            <a:ext cx="182880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passed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834640" y="301752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E3F3F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971800" y="3127248"/>
            <a:ext cx="182880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2971800" y="3754526"/>
            <a:ext cx="182880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pass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120640" y="301752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E3F3F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257800" y="3127248"/>
            <a:ext cx="182880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4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5257800" y="3754526"/>
            <a:ext cx="182880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617720"/>
            <a:ext cx="6675120" cy="1417320"/>
          </a:xfrm>
          <a:prstGeom prst="roundRect">
            <a:avLst>
              <a:gd name="adj" fmla="val 5806"/>
            </a:avLst>
          </a:prstGeom>
          <a:solidFill>
            <a:srgbClr val="0B3D3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48006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one of the 18 failures passed the offline test suite — because that suite only ever asked whether the good case worked.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review found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MediTrack AI — Stage II, Week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55448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0" y="16002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FINDINGS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77840" y="2002536"/>
            <a:ext cx="329184" cy="329184"/>
          </a:xfrm>
          <a:prstGeom prst="ellipse">
            <a:avLst/>
          </a:prstGeom>
          <a:solidFill>
            <a:srgbClr val="F6DED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651577" y="2070216"/>
            <a:ext cx="181710" cy="181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198424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caller saying “give me -5 tablets” was quietly charged for 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577840" y="2660904"/>
            <a:ext cx="329184" cy="329184"/>
          </a:xfrm>
          <a:prstGeom prst="ellipse">
            <a:avLst/>
          </a:prstGeom>
          <a:solidFill>
            <a:srgbClr val="F6DED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51577" y="2728584"/>
            <a:ext cx="181710" cy="181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2642616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zero-pack order persisted with a total of ₹0.00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577840" y="3319272"/>
            <a:ext cx="329184" cy="329184"/>
          </a:xfrm>
          <a:prstGeom prst="ellipse">
            <a:avLst/>
          </a:prstGeom>
          <a:solidFill>
            <a:srgbClr val="F6DED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651577" y="3386952"/>
            <a:ext cx="181710" cy="181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989320" y="330098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mix amoxicillin with paracetamol?” bypassed the clinical safety gate entirely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577840" y="3977640"/>
            <a:ext cx="329184" cy="329184"/>
          </a:xfrm>
          <a:prstGeom prst="ellipse">
            <a:avLst/>
          </a:prstGeom>
          <a:solidFill>
            <a:srgbClr val="F6DED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651577" y="4045320"/>
            <a:ext cx="181710" cy="181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989320" y="395935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REST endpoints served the full order book with no credentials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577840" y="4636008"/>
            <a:ext cx="329184" cy="329184"/>
          </a:xfrm>
          <a:prstGeom prst="ellipse">
            <a:avLst/>
          </a:prstGeom>
          <a:solidFill>
            <a:srgbClr val="F6DED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651577" y="4703688"/>
            <a:ext cx="181710" cy="181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989320" y="461772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source could POST a fake call to the voice webhook — no signature check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577840" y="5294376"/>
            <a:ext cx="329184" cy="329184"/>
          </a:xfrm>
          <a:prstGeom prst="ellipse">
            <a:avLst/>
          </a:prstGeom>
          <a:solidFill>
            <a:srgbClr val="F6DED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651577" y="5362056"/>
            <a:ext cx="181710" cy="181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5989320" y="527608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“daily” matched a Centrum vitamin through its own product alias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4B RESPONSE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Hardening delivered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MediTrack AI — Stage II, Week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94415" cy="512064"/>
          </a:xfrm>
          <a:prstGeom prst="rect">
            <a:avLst/>
          </a:prstGeom>
          <a:solidFill>
            <a:srgbClr val="E3F3F0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1746504"/>
            <a:ext cx="310896" cy="310896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8865" y="1807564"/>
            <a:ext cx="171615" cy="17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64592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Quantity bounds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1645920"/>
            <a:ext cx="7528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Zero, negative and 999-pack requests are refused before they reach pricing or disk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9224" y="2258568"/>
            <a:ext cx="310896" cy="310896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8865" y="2319628"/>
            <a:ext cx="171615" cy="17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15798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 routing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157984"/>
            <a:ext cx="7528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Interaction, store-policy and “get me a human” phrasing now reach the correct route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70048"/>
            <a:ext cx="11094415" cy="512064"/>
          </a:xfrm>
          <a:prstGeom prst="rect">
            <a:avLst/>
          </a:prstGeom>
          <a:solidFill>
            <a:srgbClr val="E3F3F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" y="2770632"/>
            <a:ext cx="310896" cy="310896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8865" y="2831692"/>
            <a:ext cx="171615" cy="17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67004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limits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2670048"/>
            <a:ext cx="7528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Utterances are capped by length and token count — the DoS path is closed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" y="3282696"/>
            <a:ext cx="310896" cy="310896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8865" y="3343756"/>
            <a:ext cx="171615" cy="17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18211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 resilience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3182112"/>
            <a:ext cx="7528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or corrupt formulary degrades gracefully; the process never crashes at import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694176"/>
            <a:ext cx="11094415" cy="512064"/>
          </a:xfrm>
          <a:prstGeom prst="rect">
            <a:avLst/>
          </a:prstGeom>
          <a:solidFill>
            <a:srgbClr val="E3F3F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" y="3794760"/>
            <a:ext cx="310896" cy="310896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8865" y="3855820"/>
            <a:ext cx="171615" cy="17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69417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API auth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023360" y="3694176"/>
            <a:ext cx="7528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staff endpoint requires X-API-Key and fails closed if it is unset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9224" y="4306824"/>
            <a:ext cx="310896" cy="310896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8865" y="4367884"/>
            <a:ext cx="171615" cy="17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20624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Webhook verification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023360" y="4206240"/>
            <a:ext cx="7528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voice webhook validates Twilio's own request signature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718304"/>
            <a:ext cx="11094415" cy="512064"/>
          </a:xfrm>
          <a:prstGeom prst="rect">
            <a:avLst/>
          </a:prstGeom>
          <a:solidFill>
            <a:srgbClr val="E3F3F0"/>
          </a:solidFill>
          <a:ln/>
        </p:spPr>
      </p:sp>
      <p:sp>
        <p:nvSpPr>
          <p:cNvPr id="34" name="Shape 32"/>
          <p:cNvSpPr/>
          <p:nvPr/>
        </p:nvSpPr>
        <p:spPr>
          <a:xfrm>
            <a:off x="649224" y="4818888"/>
            <a:ext cx="310896" cy="310896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18865" y="4879948"/>
            <a:ext cx="171615" cy="17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51560" y="471830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lifecycle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023360" y="4718304"/>
            <a:ext cx="7528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sessions expire on a TTL, with a hard cap on concurrent calls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9224" y="5330952"/>
            <a:ext cx="310896" cy="310896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18865" y="5392012"/>
            <a:ext cx="171615" cy="17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" y="523036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Concurrency &amp; recovery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4023360" y="5230368"/>
            <a:ext cx="7528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Cross-process file locking, atomic writes, and automatic backup recovery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test runs: before → after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MediTrack AI — Stage II, Week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069080" y="16276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16276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47672"/>
            <a:ext cx="11094415" cy="841248"/>
          </a:xfrm>
          <a:prstGeom prst="rect">
            <a:avLst/>
          </a:prstGeom>
          <a:solidFill>
            <a:srgbClr val="E3F3F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199339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me -5 tablets”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23944" y="2240280"/>
            <a:ext cx="256032" cy="256032"/>
          </a:xfrm>
          <a:prstGeom prst="ellipse">
            <a:avLst/>
          </a:prstGeom>
          <a:solidFill>
            <a:srgbClr val="F6DED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81295" y="2292920"/>
            <a:ext cx="141330" cy="14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4453128" y="199339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5 (sign silently stripped)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64424" y="2240280"/>
            <a:ext cx="256032" cy="256032"/>
          </a:xfrm>
          <a:prstGeom prst="ellipse">
            <a:avLst/>
          </a:prstGeom>
          <a:solidFill>
            <a:srgbClr val="D6F0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21775" y="2290565"/>
            <a:ext cx="141330" cy="14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199339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— agent re-asks the quantity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283464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“999 packs please”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23944" y="3081528"/>
            <a:ext cx="256032" cy="256032"/>
          </a:xfrm>
          <a:prstGeom prst="ellipse">
            <a:avLst/>
          </a:prstGeom>
          <a:solidFill>
            <a:srgbClr val="F6DED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181295" y="3134168"/>
            <a:ext cx="141330" cy="14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4453128" y="283464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Accepted, bounded only by stock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64424" y="3081528"/>
            <a:ext cx="256032" cy="256032"/>
          </a:xfrm>
          <a:prstGeom prst="ellipse">
            <a:avLst/>
          </a:prstGeom>
          <a:solidFill>
            <a:srgbClr val="D6F0E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21775" y="3131813"/>
            <a:ext cx="141330" cy="14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83464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50 — a pharmacist handles more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630168"/>
            <a:ext cx="11094415" cy="841248"/>
          </a:xfrm>
          <a:prstGeom prst="rect">
            <a:avLst/>
          </a:prstGeom>
          <a:solidFill>
            <a:srgbClr val="E3F3F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" y="367588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“Mix amoxicillin with paracetamol?”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23944" y="3922776"/>
            <a:ext cx="256032" cy="256032"/>
          </a:xfrm>
          <a:prstGeom prst="ellipse">
            <a:avLst/>
          </a:prstGeom>
          <a:solidFill>
            <a:srgbClr val="F6DED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181295" y="3975416"/>
            <a:ext cx="141330" cy="14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4453128" y="3675888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UNKNOWN — safety gate skipped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64424" y="3922776"/>
            <a:ext cx="256032" cy="256032"/>
          </a:xfrm>
          <a:prstGeom prst="ellipse">
            <a:avLst/>
          </a:prstGeom>
          <a:solidFill>
            <a:srgbClr val="D6F0E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021775" y="3973061"/>
            <a:ext cx="141330" cy="14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8293608" y="3675888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CLINICAL — escalated, never answered by AI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4517136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/orders, no credentials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123944" y="4764024"/>
            <a:ext cx="256032" cy="256032"/>
          </a:xfrm>
          <a:prstGeom prst="ellipse">
            <a:avLst/>
          </a:prstGeom>
          <a:solidFill>
            <a:srgbClr val="F6DED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181295" y="4816664"/>
            <a:ext cx="141330" cy="14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4453128" y="4517136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— full order book returned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964424" y="4764024"/>
            <a:ext cx="256032" cy="256032"/>
          </a:xfrm>
          <a:prstGeom prst="ellipse">
            <a:avLst/>
          </a:prstGeom>
          <a:solidFill>
            <a:srgbClr val="D6F0E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021775" y="4814309"/>
            <a:ext cx="141330" cy="14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8293608" y="4517136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Unauthorized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312664"/>
            <a:ext cx="11094415" cy="841248"/>
          </a:xfrm>
          <a:prstGeom prst="rect">
            <a:avLst/>
          </a:prstGeom>
          <a:solidFill>
            <a:srgbClr val="E3F3F0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8368" y="535838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orders.json at startup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123944" y="5605272"/>
            <a:ext cx="256032" cy="256032"/>
          </a:xfrm>
          <a:prstGeom prst="ellipse">
            <a:avLst/>
          </a:prstGeom>
          <a:solidFill>
            <a:srgbClr val="F6DED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181295" y="5657912"/>
            <a:ext cx="141330" cy="14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700" dirty="0"/>
          </a:p>
        </p:txBody>
      </p:sp>
      <p:sp>
        <p:nvSpPr>
          <p:cNvPr id="43" name="Text 41"/>
          <p:cNvSpPr txBox="1"/>
          <p:nvPr/>
        </p:nvSpPr>
        <p:spPr>
          <a:xfrm>
            <a:off x="4453128" y="5358384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crashes, no recovery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964424" y="5605272"/>
            <a:ext cx="256032" cy="256032"/>
          </a:xfrm>
          <a:prstGeom prst="ellipse">
            <a:avLst/>
          </a:prstGeom>
          <a:solidFill>
            <a:srgbClr val="D6F0E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021775" y="5655557"/>
            <a:ext cx="141330" cy="14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6" name="Text 44"/>
          <p:cNvSpPr txBox="1"/>
          <p:nvPr/>
        </p:nvSpPr>
        <p:spPr>
          <a:xfrm>
            <a:off x="8293608" y="5358384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from backup; bad file quarantined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 NOW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Updated test results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MediTrack AI — Stage II, Week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 / 232 tests passing (100%)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577840"/>
            <a:ext cx="6400800" cy="914"/>
          </a:xfrm>
          <a:prstGeom prst="line">
            <a:avLst/>
          </a:prstGeom>
          <a:noFill/>
          <a:ln w="12700">
            <a:solidFill>
              <a:srgbClr val="D7E7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4958351"/>
            <a:ext cx="1051560" cy="619489"/>
          </a:xfrm>
          <a:prstGeom prst="roundRect">
            <a:avLst>
              <a:gd name="adj" fmla="val 7380"/>
            </a:avLst>
          </a:prstGeom>
          <a:solidFill>
            <a:srgbClr val="00B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4574303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5669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06040" y="4735336"/>
            <a:ext cx="1051560" cy="842504"/>
          </a:xfrm>
          <a:prstGeom prst="roundRect">
            <a:avLst>
              <a:gd name="adj" fmla="val 5427"/>
            </a:avLst>
          </a:prstGeom>
          <a:solidFill>
            <a:srgbClr val="00B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468880" y="43512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5669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4537099"/>
            <a:ext cx="1051560" cy="1040741"/>
          </a:xfrm>
          <a:prstGeom prst="roundRect">
            <a:avLst>
              <a:gd name="adj" fmla="val 4393"/>
            </a:avLst>
          </a:prstGeom>
          <a:solidFill>
            <a:srgbClr val="00B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51960" y="4153051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160520" y="5669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2331720"/>
            <a:ext cx="1051560" cy="3246120"/>
          </a:xfrm>
          <a:prstGeom prst="roundRect">
            <a:avLst>
              <a:gd name="adj" fmla="val 4348"/>
            </a:avLst>
          </a:prstGeom>
          <a:solidFill>
            <a:srgbClr val="00B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35040" y="194767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5669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52360" y="169164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E3F3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89520" y="1801368"/>
            <a:ext cx="393192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232 / 232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2570378"/>
            <a:ext cx="393192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 — up from 190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52360" y="324612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E3F3F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89520" y="3355848"/>
            <a:ext cx="393192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4124858"/>
            <a:ext cx="393192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regression tests — one per defect found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52360" y="480060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E3F3F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589520" y="4910328"/>
            <a:ext cx="393192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/ 18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5452567"/>
            <a:ext cx="393192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findings fixed and verified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SUMMARY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reliability posture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MediTrack AI — Stage II, Week 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0352" cy="530352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8" name="Shape 6"/>
          <p:cNvSpPr/>
          <p:nvPr/>
        </p:nvSpPr>
        <p:spPr>
          <a:xfrm>
            <a:off x="691835" y="2218938"/>
            <a:ext cx="243962" cy="134179"/>
          </a:xfrm>
          <a:prstGeom prst="roundRect">
            <a:avLst>
              <a:gd name="adj" fmla="val 27259"/>
            </a:avLst>
          </a:prstGeom>
          <a:solidFill>
            <a:srgbClr val="0B3D3A"/>
          </a:solidFill>
          <a:ln/>
        </p:spPr>
      </p:sp>
      <p:sp>
        <p:nvSpPr>
          <p:cNvPr id="9" name="Shape 7"/>
          <p:cNvSpPr/>
          <p:nvPr/>
        </p:nvSpPr>
        <p:spPr>
          <a:xfrm>
            <a:off x="725990" y="2055483"/>
            <a:ext cx="175653" cy="151256"/>
          </a:xfrm>
          <a:prstGeom prst="blockArc">
            <a:avLst>
              <a:gd name="adj1" fmla="val 12000000"/>
              <a:gd name="adj2" fmla="val 20400000"/>
              <a:gd name="adj3" fmla="val 14000"/>
            </a:avLst>
          </a:prstGeom>
          <a:solidFill>
            <a:srgbClr val="0B3D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19385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API requires X-API-Key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2219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Constant-time comparison; fails closed if unset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5352" y="1965960"/>
            <a:ext cx="530352" cy="530352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13" name="Shape 11"/>
          <p:cNvSpPr/>
          <p:nvPr/>
        </p:nvSpPr>
        <p:spPr>
          <a:xfrm>
            <a:off x="6388547" y="2109155"/>
            <a:ext cx="243962" cy="243962"/>
          </a:xfrm>
          <a:prstGeom prst="hexagon">
            <a:avLst/>
          </a:prstGeom>
          <a:solidFill>
            <a:srgbClr val="0B3D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76872" y="19385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Twilio signature verified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76872" y="22219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voice webhook checks the request came from Twilio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93008"/>
            <a:ext cx="530352" cy="530352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17" name="Shape 15"/>
          <p:cNvSpPr/>
          <p:nvPr/>
        </p:nvSpPr>
        <p:spPr>
          <a:xfrm>
            <a:off x="691835" y="3636203"/>
            <a:ext cx="243962" cy="243962"/>
          </a:xfrm>
          <a:prstGeom prst="ellipse">
            <a:avLst/>
          </a:prstGeom>
          <a:ln w="516">
            <a:solidFill>
              <a:srgbClr val="0B3D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" y="3680116"/>
            <a:ext cx="914" cy="78068"/>
          </a:xfrm>
          <a:prstGeom prst="line">
            <a:avLst/>
          </a:prstGeom>
          <a:noFill/>
          <a:ln w="442">
            <a:solidFill>
              <a:srgbClr val="0B3D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" y="3753305"/>
            <a:ext cx="58551" cy="914"/>
          </a:xfrm>
          <a:prstGeom prst="line">
            <a:avLst/>
          </a:prstGeom>
          <a:noFill/>
          <a:ln w="442">
            <a:solidFill>
              <a:srgbClr val="0B3D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80160" y="346557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outbound call is time-bounded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7490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LLM, STT and Twilio downloads cannot hang a call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45352" y="3493008"/>
            <a:ext cx="530352" cy="530352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23" name="Shape 21"/>
          <p:cNvSpPr/>
          <p:nvPr/>
        </p:nvSpPr>
        <p:spPr>
          <a:xfrm>
            <a:off x="6388547" y="3636203"/>
            <a:ext cx="243962" cy="243962"/>
          </a:xfrm>
          <a:prstGeom prst="ellipse">
            <a:avLst/>
          </a:prstGeom>
          <a:ln w="516">
            <a:solidFill>
              <a:srgbClr val="0B3D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10528" y="3680116"/>
            <a:ext cx="914" cy="78068"/>
          </a:xfrm>
          <a:prstGeom prst="line">
            <a:avLst/>
          </a:prstGeom>
          <a:noFill/>
          <a:ln w="442">
            <a:solidFill>
              <a:srgbClr val="0B3D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0528" y="3753305"/>
            <a:ext cx="58551" cy="914"/>
          </a:xfrm>
          <a:prstGeom prst="line">
            <a:avLst/>
          </a:prstGeom>
          <a:noFill/>
          <a:ln w="442">
            <a:solidFill>
              <a:srgbClr val="0B3D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76872" y="346557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Sessions expire automatically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76872" y="37490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TTL plus a hard cap on concurrent calls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020056"/>
            <a:ext cx="530352" cy="530352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29" name="Shape 27"/>
          <p:cNvSpPr/>
          <p:nvPr/>
        </p:nvSpPr>
        <p:spPr>
          <a:xfrm>
            <a:off x="691835" y="5163251"/>
            <a:ext cx="243962" cy="243962"/>
          </a:xfrm>
          <a:prstGeom prst="donut">
            <a:avLst/>
          </a:prstGeom>
          <a:solidFill>
            <a:srgbClr val="0B3D3A"/>
          </a:solidFill>
          <a:ln/>
        </p:spPr>
      </p:sp>
      <p:sp>
        <p:nvSpPr>
          <p:cNvPr id="30" name="Shape 28"/>
          <p:cNvSpPr/>
          <p:nvPr/>
        </p:nvSpPr>
        <p:spPr>
          <a:xfrm rot="5400000">
            <a:off x="774782" y="5131536"/>
            <a:ext cx="78068" cy="68309"/>
          </a:xfrm>
          <a:prstGeom prst="triangle">
            <a:avLst/>
          </a:prstGeom>
          <a:solidFill>
            <a:srgbClr val="0B3D3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280160" y="499262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under multiple workers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280160" y="52760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Cross-process file locking prevents overselling stock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45352" y="5020056"/>
            <a:ext cx="530352" cy="530352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34" name="Shape 32"/>
          <p:cNvSpPr/>
          <p:nvPr/>
        </p:nvSpPr>
        <p:spPr>
          <a:xfrm>
            <a:off x="6412943" y="5163251"/>
            <a:ext cx="195170" cy="243962"/>
          </a:xfrm>
          <a:prstGeom prst="can">
            <a:avLst/>
          </a:prstGeom>
          <a:solidFill>
            <a:srgbClr val="0B3D3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976872" y="499262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writes with recovery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976872" y="52760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backup snapshot and corrupt-file quarantine, always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green test suite only proves the paths it exercises.”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532888"/>
            <a:ext cx="365760" cy="365760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30570" y="2604723"/>
            <a:ext cx="201900" cy="20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51460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Independent, adversarial review found what self-testing alone could not — and that is a healthy process, not a failure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401568"/>
            <a:ext cx="365760" cy="365760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570" y="3473403"/>
            <a:ext cx="201900" cy="20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38328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state machine with the model constrained to grounded facts kept behaviour testable and the fixes verifiable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270248"/>
            <a:ext cx="365760" cy="365760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570" y="4342083"/>
            <a:ext cx="201900" cy="20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25196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Production-readiness means treating input validation, authentication and recovery as requirements from day one — not an afterthought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10588"/>
            </a:avLst>
          </a:prstGeom>
          <a:solidFill>
            <a:srgbClr val="072826"/>
          </a:solidFill>
          <a:ln w="12700">
            <a:solidFill>
              <a:srgbClr val="00B3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5321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MediTrack AI is now validated against 232 automated tests and 18 real-world failure classes — ready for the next stage.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MediTrack AI — Stage II, Week 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MediTrack AI — Stage II, Week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 — NEAR TERM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520440" cy="868680"/>
          </a:xfrm>
          <a:prstGeom prst="chevron">
            <a:avLst/>
          </a:prstGeom>
          <a:solidFill>
            <a:srgbClr val="0B3D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0391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05740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image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verification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77640" y="1965960"/>
            <a:ext cx="3520440" cy="868680"/>
          </a:xfrm>
          <a:prstGeom prst="chevron">
            <a:avLst/>
          </a:prstGeom>
          <a:solidFill>
            <a:srgbClr val="156B6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069080" y="20391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05740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order &amp; status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1965960"/>
            <a:ext cx="3520440" cy="868680"/>
          </a:xfrm>
          <a:prstGeom prst="chevron">
            <a:avLst/>
          </a:prstGeom>
          <a:solidFill>
            <a:srgbClr val="00B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0" y="20391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205740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 real database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transactions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30168"/>
            <a:ext cx="274320" cy="274320"/>
          </a:xfrm>
          <a:prstGeom prst="ellipse">
            <a:avLst/>
          </a:prstGeom>
          <a:solidFill>
            <a:srgbClr val="CFEAE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0088" y="3684044"/>
            <a:ext cx="151425" cy="151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6118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speech, so the caller can interrupt mid-sentence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630168"/>
            <a:ext cx="274320" cy="274320"/>
          </a:xfrm>
          <a:prstGeom prst="ellipse">
            <a:avLst/>
          </a:prstGeom>
          <a:solidFill>
            <a:srgbClr val="CFEAE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25088" y="3684044"/>
            <a:ext cx="151425" cy="151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36118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Read-back confirmation of phone numbers and order numbers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274320" cy="274320"/>
          </a:xfrm>
          <a:prstGeom prst="ellipse">
            <a:avLst/>
          </a:prstGeom>
          <a:solidFill>
            <a:srgbClr val="CFEAE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10088" y="4305836"/>
            <a:ext cx="151425" cy="151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2336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the pharmacy's real POS and stock system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4251960"/>
            <a:ext cx="274320" cy="274320"/>
          </a:xfrm>
          <a:prstGeom prst="ellipse">
            <a:avLst/>
          </a:prstGeom>
          <a:solidFill>
            <a:srgbClr val="CFEAE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25088" y="4305836"/>
            <a:ext cx="151425" cy="151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42336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 for callers who switch language mid-sentence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873752"/>
            <a:ext cx="274320" cy="274320"/>
          </a:xfrm>
          <a:prstGeom prst="ellipse">
            <a:avLst/>
          </a:prstGeom>
          <a:solidFill>
            <a:srgbClr val="CFEAE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0088" y="4927628"/>
            <a:ext cx="151425" cy="151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48554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pharmacist web dashboard over the existing REST API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4873752"/>
            <a:ext cx="274320" cy="274320"/>
          </a:xfrm>
          <a:prstGeom prst="ellipse">
            <a:avLst/>
          </a:prstGeom>
          <a:solidFill>
            <a:srgbClr val="CFEAE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25088" y="4927628"/>
            <a:ext cx="151425" cy="151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6629400" y="48554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Repeat-customer recognition by phone number, for faster refills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3A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72826"/>
          </a:solidFill>
          <a:ln/>
        </p:spPr>
      </p:sp>
      <p:sp>
        <p:nvSpPr>
          <p:cNvPr id="4" name="Shape 2"/>
          <p:cNvSpPr/>
          <p:nvPr/>
        </p:nvSpPr>
        <p:spPr>
          <a:xfrm>
            <a:off x="5501488" y="1691640"/>
            <a:ext cx="1188720" cy="1188720"/>
          </a:xfrm>
          <a:prstGeom prst="ellipse">
            <a:avLst/>
          </a:prstGeom>
          <a:solidFill>
            <a:srgbClr val="00B39A"/>
          </a:solidFill>
          <a:ln/>
        </p:spPr>
      </p:sp>
      <p:sp>
        <p:nvSpPr>
          <p:cNvPr id="5" name="Shape 3"/>
          <p:cNvSpPr/>
          <p:nvPr/>
        </p:nvSpPr>
        <p:spPr>
          <a:xfrm>
            <a:off x="5822442" y="1979786"/>
            <a:ext cx="546811" cy="437449"/>
          </a:xfrm>
          <a:prstGeom prst="wedgeRoundRectCallout">
            <a:avLst>
              <a:gd name="adj" fmla="val 12542"/>
            </a:avLst>
          </a:prstGeom>
          <a:solidFill>
            <a:srgbClr val="0B3D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0" y="30632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0" y="384048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90008" y="4572000"/>
            <a:ext cx="2011680" cy="914"/>
          </a:xfrm>
          <a:prstGeom prst="line">
            <a:avLst/>
          </a:prstGeom>
          <a:noFill/>
          <a:ln w="25400">
            <a:solidFill>
              <a:srgbClr val="00B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Vengala Rathan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0" y="51206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letsgrowtogether2031@gmail.com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0" y="58064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F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code, tests and architecture documentation available in the project repository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MediTrack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MediTrack AI — Voice Agent for Pharmacy Enquiry &amp; Order Automation</dc:title>
  <dc:subject>PptxGenJS Presentation</dc:subject>
  <dc:creator>Vengala Rathan</dc:creator>
  <cp:lastModifiedBy>Vengala Rathan</cp:lastModifiedBy>
  <cp:revision>1</cp:revision>
  <dcterms:created xsi:type="dcterms:W3CDTF">2026-09-23T13:56:48Z</dcterms:created>
  <dcterms:modified xsi:type="dcterms:W3CDTF">2026-09-23T13:56:48Z</dcterms:modified>
</cp:coreProperties>
</file>